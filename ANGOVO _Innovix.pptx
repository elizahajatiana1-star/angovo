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 11" descr="angovo_v2_fond_transpar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910" y="0"/>
            <a:ext cx="82302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76412"/>
            <a:ext cx="3492549" cy="430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776412"/>
            <a:ext cx="3492549" cy="4305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776412"/>
            <a:ext cx="3492549" cy="43053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986087"/>
            <a:ext cx="284707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C55E"/>
                </a:solidFill>
                <a:latin typeface="Poppins"/>
              </a:rPr>
              <a:t>Factures Opaques</a:t>
            </a:r>
            <a:endParaRPr sz="21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2025" y="3576637"/>
            <a:ext cx="27114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Des relevés complexes et difficiles à interpréter, empêchant toute visibilité sur la répartition des coûts réels au sein du foyer.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0324" y="2986087"/>
            <a:ext cx="284707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C55E"/>
                </a:solidFill>
                <a:latin typeface="Poppins"/>
              </a:rPr>
              <a:t>Suivi Impossible</a:t>
            </a:r>
            <a:endParaRPr sz="21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40324" y="3576637"/>
            <a:ext cx="27114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L'absence d'outils de monitoring en temps réel rend la gestion de la consommation quotidienne purement réactive et inefficace.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18624" y="2986087"/>
            <a:ext cx="2847074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C55E"/>
                </a:solidFill>
                <a:latin typeface="Poppins"/>
              </a:rPr>
              <a:t>Dépenses Imprévues</a:t>
            </a:r>
            <a:endParaRPr sz="21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18624" y="3976687"/>
            <a:ext cx="27114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Des pics de consommation non détectés entraînant des surcoûts majeurs et une instabilité budgétaire pour les familles.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205037"/>
            <a:ext cx="3619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8624" y="2205037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oppins"/>
              </a:rPr>
              <a:t>LA PROBLÉMATIQUE ACTUELLE</a:t>
            </a:r>
            <a:endParaRPr sz="33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785937"/>
            <a:ext cx="5238750" cy="428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52637"/>
            <a:ext cx="5500687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22C55E"/>
                </a:solidFill>
                <a:latin typeface="Poppins"/>
              </a:rPr>
              <a:t>Redonner le pouvoir aux utilisateurs</a:t>
            </a:r>
            <a:endParaRPr sz="27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290887"/>
            <a:ext cx="523875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Chez </a:t>
            </a:r>
            <a:r>
              <a:rPr sz="1500" b="1" i="0" u="none">
                <a:solidFill>
                  <a:srgbClr val="CBD5E1"/>
                </a:solidFill>
                <a:latin typeface="Urbanist"/>
              </a:rPr>
              <a:t>ANGOVO</a:t>
            </a:r>
            <a:r>
              <a:rPr sz="1500" b="0" i="0" u="none">
                <a:solidFill>
                  <a:srgbClr val="CBD5E1"/>
                </a:solidFill>
                <a:latin typeface="Urbanist"/>
              </a:rPr>
              <a:t>, nous croyons que la technologie doit simplifier la vie. Notre plateforme transforme les données brutes en informations exploitables, permettant à chaque foyer malgache de devenir acteur de sa propre transition énergétique.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5005387"/>
            <a:ext cx="523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Grâce à une interface moderne et intuitive, gérez vos ressources comme jamais auparavant.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275" y="1795462"/>
            <a:ext cx="5219700" cy="426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oppins"/>
              </a:rPr>
              <a:t>UNE VISION INTELLIGENTE</a:t>
            </a:r>
            <a:endParaRPr sz="33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76437"/>
            <a:ext cx="3492549" cy="3905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976437"/>
            <a:ext cx="3492549" cy="3905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976437"/>
            <a:ext cx="3492549" cy="3905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3186112"/>
            <a:ext cx="284707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C55E"/>
                </a:solidFill>
                <a:latin typeface="Poppins"/>
              </a:rPr>
              <a:t>Suivre</a:t>
            </a:r>
            <a:endParaRPr sz="21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2025" y="3776662"/>
            <a:ext cx="27114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Monitorer la consommation en temps réel pour identifier les postes les plus énergivores de votre installation.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40324" y="3186112"/>
            <a:ext cx="284707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C55E"/>
                </a:solidFill>
                <a:latin typeface="Poppins"/>
              </a:rPr>
              <a:t>Comprendre</a:t>
            </a:r>
            <a:endParaRPr sz="21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40324" y="3776662"/>
            <a:ext cx="27114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Déchiffrer vos factures grâce à des analyses sémantiques et visuelles simplifiées, accessibles à tous.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18624" y="3186112"/>
            <a:ext cx="2847074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22C55E"/>
                </a:solidFill>
                <a:latin typeface="Poppins"/>
              </a:rPr>
              <a:t>Optimiser</a:t>
            </a:r>
            <a:endParaRPr sz="2100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18624" y="3776662"/>
            <a:ext cx="27114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Exploiter la puissance de l'IA pour recevoir des recommandations personnalisées et réduire vos dépenses.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405062"/>
            <a:ext cx="476250" cy="476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0324" y="2405062"/>
            <a:ext cx="476250" cy="4762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624" y="2405062"/>
            <a:ext cx="53340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oppins"/>
              </a:rPr>
              <a:t>NOS OBJECTIFS STRATÉGIQUES</a:t>
            </a:r>
            <a:endParaRPr sz="33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5000625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oppins"/>
              </a:rPr>
              <a:t>LA SOLUTION ANGOVO</a:t>
            </a:r>
            <a:endParaRPr sz="33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" y="571500"/>
            <a:ext cx="57150" cy="12382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2190750"/>
            <a:ext cx="52006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5" b="1" i="0" u="none">
                <a:solidFill>
                  <a:srgbClr val="22C55E"/>
                </a:solidFill>
                <a:latin typeface="Poppins"/>
              </a:rPr>
              <a:t>L'Intelligence Artificielle au Service du Réseau</a:t>
            </a:r>
            <a:endParaRPr sz="1405" b="1" i="0" u="none">
              <a:solidFill>
                <a:srgbClr val="22C55E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2657475"/>
            <a:ext cx="49530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ANGOVO centralise l'ensemble de vos flux de données énergétiques. Notre algorithme propriétaire analyse vos habitudes et détecte les anomalies avant même qu'elles n'impactent votre facture.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4257675"/>
            <a:ext cx="4953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Une solution logicielle robuste, sécurisée et évolutive conçue pour répondre aux défis spécifiques du marché local.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48037"/>
            <a:ext cx="11049000" cy="19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5238750"/>
            <a:ext cx="1104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1" u="none">
                <a:solidFill>
                  <a:srgbClr val="94A3B8"/>
                </a:solidFill>
                <a:latin typeface="Urbanist"/>
              </a:rPr>
              <a:t>Une démonstration live est disponible sur demande pour explorer chaque module.</a:t>
            </a:r>
            <a:endParaRPr sz="1500" b="0" i="1" u="none">
              <a:solidFill>
                <a:srgbClr val="94A3B8"/>
              </a:solidFill>
              <a:latin typeface="Urbanis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672530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0733" y="2924175"/>
            <a:ext cx="25521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5" b="1" i="0" u="none">
                <a:solidFill>
                  <a:srgbClr val="FFFFFF"/>
                </a:solidFill>
                <a:latin typeface="Poppins"/>
              </a:rPr>
              <a:t>Connexion</a:t>
            </a:r>
            <a:endParaRPr sz="1405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1500" y="339090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Accès sécurisé à votre espace personnel.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45210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413" y="2924175"/>
            <a:ext cx="25521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5" b="1" i="0" u="none">
                <a:solidFill>
                  <a:srgbClr val="FFFFFF"/>
                </a:solidFill>
                <a:latin typeface="Poppins"/>
              </a:rPr>
              <a:t>Dashboard</a:t>
            </a:r>
            <a:endParaRPr sz="1405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44180" y="339090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Vue d'ensemble de vos indicateurs clés.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17891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94" y="2924175"/>
            <a:ext cx="25521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5" b="1" i="0" u="none">
                <a:solidFill>
                  <a:srgbClr val="FFFFFF"/>
                </a:solidFill>
                <a:latin typeface="Poppins"/>
              </a:rPr>
              <a:t>Analyse IA</a:t>
            </a:r>
            <a:endParaRPr sz="1405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16860" y="339090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Interprétation de vos données complexes.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0290571" y="2505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8774" y="2924175"/>
            <a:ext cx="2552193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5" b="1" i="0" u="none">
                <a:solidFill>
                  <a:srgbClr val="FFFFFF"/>
                </a:solidFill>
                <a:latin typeface="Poppins"/>
              </a:rPr>
              <a:t>Optimisation</a:t>
            </a:r>
            <a:endParaRPr sz="1405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89541" y="3390900"/>
            <a:ext cx="243066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Réduction active de votre consommation.</a:t>
            </a:r>
            <a:endParaRPr sz="1500" b="0" i="0" u="none">
              <a:solidFill>
                <a:srgbClr val="CBD5E1"/>
              </a:solidFill>
              <a:latin typeface="Urbanis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oppins"/>
              </a:rPr>
              <a:t>L'EXPÉRIENCE UTILISATEUR</a:t>
            </a:r>
            <a:endParaRPr sz="33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768822"/>
          <a:ext cx="11048999" cy="432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846"/>
                <a:gridCol w="2815679"/>
                <a:gridCol w="2892474"/>
              </a:tblGrid>
              <a:tr h="864096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Urbanist"/>
                        </a:rPr>
                        <a:t>Fonctionnalités</a:t>
                      </a:r>
                      <a:endParaRPr sz="1200" b="1" i="0" u="none">
                        <a:solidFill>
                          <a:srgbClr val="94A3B8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Urbanist"/>
                        </a:rPr>
                        <a:t>Formule Gratuit</a:t>
                      </a:r>
                      <a:endParaRPr sz="1200" b="1" i="0" u="none">
                        <a:solidFill>
                          <a:srgbClr val="94A3B8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94A3B8"/>
                          </a:solidFill>
                          <a:latin typeface="Urbanist"/>
                        </a:rPr>
                        <a:t>Formule Premium</a:t>
                      </a:r>
                      <a:endParaRPr sz="1200" b="1" i="0" u="none">
                        <a:solidFill>
                          <a:srgbClr val="94A3B8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409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Urbanist"/>
                        </a:rPr>
                        <a:t>Suivi de Consommation</a:t>
                      </a:r>
                      <a:endParaRPr sz="1500" b="1" i="0" u="none">
                        <a:solidFill>
                          <a:srgbClr val="FFFFFF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Basique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Avancé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6409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Urbanist"/>
                        </a:rPr>
                        <a:t>Historique des Factures</a:t>
                      </a:r>
                      <a:endParaRPr sz="1500" b="1" i="0" u="none">
                        <a:solidFill>
                          <a:srgbClr val="FFFFFF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3 derniers mois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Illimité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6409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Urbanist"/>
                        </a:rPr>
                        <a:t>Analyses IA &amp; Recommandations</a:t>
                      </a:r>
                      <a:endParaRPr sz="1500" b="1" i="0" u="none">
                        <a:solidFill>
                          <a:srgbClr val="FFFFFF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Inclus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  <a:tr h="864096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FFFFFF"/>
                          </a:solidFill>
                          <a:latin typeface="Urbanist"/>
                        </a:rPr>
                        <a:t>Alertes SMS/Push temps réel</a:t>
                      </a:r>
                      <a:endParaRPr sz="1500" b="1" i="0" u="none">
                        <a:solidFill>
                          <a:srgbClr val="FFFFFF"/>
                        </a:solidFill>
                        <a:latin typeface="Urbanis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2571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CBD5E1"/>
                          </a:solidFill>
                          <a:latin typeface="Urbanist"/>
                        </a:rPr>
                        <a:t>Inclus</a:t>
                      </a:r>
                      <a:endParaRPr sz="1500" b="0" i="0" u="none">
                        <a:solidFill>
                          <a:srgbClr val="CBD5E1"/>
                        </a:solidFill>
                        <a:latin typeface="Urbanist"/>
                      </a:endParaRPr>
                    </a:p>
                  </a:txBody>
                  <a:tcPr marL="28575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50" y="5508277"/>
            <a:ext cx="17145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71" y="4631977"/>
            <a:ext cx="14287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50" y="4631977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71" y="5508277"/>
            <a:ext cx="14287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50" y="2879377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471" y="2879377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471" y="2879377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50" y="2879377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71" y="4631977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50" y="4631977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471" y="5508277"/>
            <a:ext cx="14287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50" y="5508277"/>
            <a:ext cx="17145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2000" y="571500"/>
            <a:ext cx="11401425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FFFFFF"/>
                </a:solidFill>
                <a:latin typeface="Poppins"/>
              </a:rPr>
              <a:t>MODÈLE ÉCONOMIQUE</a:t>
            </a:r>
            <a:endParaRPr sz="33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571500"/>
            <a:ext cx="57150" cy="61912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587" y="1892647"/>
            <a:ext cx="504825" cy="571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90750" y="3168997"/>
            <a:ext cx="7810500" cy="123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sz="4050" b="0" i="1" u="none">
                <a:solidFill>
                  <a:srgbClr val="F8FAFC"/>
                </a:solidFill>
                <a:latin typeface="Urbanist Light"/>
              </a:rPr>
              <a:t> On ne peut pas gérer ce que l'on ne mesure pas. </a:t>
            </a:r>
            <a:endParaRPr sz="4050" b="0" i="1" u="none">
              <a:solidFill>
                <a:srgbClr val="F8FAFC"/>
              </a:solidFill>
              <a:latin typeface="Urbanist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950856" y="1632644"/>
            <a:ext cx="2290286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FFFFFF"/>
                </a:solidFill>
                <a:latin typeface="Poppins"/>
              </a:rPr>
              <a:t>Merci</a:t>
            </a:r>
            <a:endParaRPr sz="6000" b="1" i="0" u="none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95762" y="3175694"/>
            <a:ext cx="380047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>
                <a:solidFill>
                  <a:srgbClr val="F97316"/>
                </a:solidFill>
                <a:latin typeface="Urbanist SemiBold"/>
              </a:rPr>
              <a:t>L'énergie à portée de main.</a:t>
            </a:r>
            <a:endParaRPr sz="2400" b="0" i="0" u="none">
              <a:solidFill>
                <a:srgbClr val="F97316"/>
              </a:solidFill>
              <a:latin typeface="Urbanist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2160</Words>
  <Application>WPS Presentation</Application>
  <PresentationFormat>On-screen Show (4:3)</PresentationFormat>
  <Paragraphs>98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Arial</vt:lpstr>
      <vt:lpstr>Poppins</vt:lpstr>
      <vt:lpstr>Segoe Print</vt:lpstr>
      <vt:lpstr>Urbanist</vt:lpstr>
      <vt:lpstr>Urbanist ExtraBold</vt:lpstr>
      <vt:lpstr>Urbanist Light</vt:lpstr>
      <vt:lpstr>Urbanist SemiBold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HAJATIANA ELIZA</cp:lastModifiedBy>
  <cp:revision>3</cp:revision>
  <dcterms:created xsi:type="dcterms:W3CDTF">2013-01-27T09:14:00Z</dcterms:created>
  <dcterms:modified xsi:type="dcterms:W3CDTF">2026-08-03T17:12:31Z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1036-12.1.0.28032</vt:lpwstr>
  </property>
  <property fmtid="{D5CDD505-2E9C-101B-9397-08002B2CF9AE}" pid="3" name="ICV">
    <vt:lpwstr>DEFEC6E76B5747E3B17EA22D512D4E2C_12</vt:lpwstr>
  </property>
</Properties>
</file>